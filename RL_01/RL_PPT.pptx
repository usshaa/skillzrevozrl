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7" r:id="rId9"/>
    <p:sldId id="268" r:id="rId10"/>
    <p:sldId id="269" r:id="rId11"/>
    <p:sldId id="270" r:id="rId12"/>
    <p:sldId id="271" r:id="rId13"/>
    <p:sldId id="275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20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B24B-CAD5-C1A4-C247-0FEE5E8C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91994-4BDC-2994-836A-1B7384AD2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4EDA3-99E2-D2CB-EBA3-DE55B7FBC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00085-D183-5992-1691-C0C054EFE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98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65476"/>
            <a:ext cx="9144000" cy="10972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Reinforcement Learning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7280" y="3187263"/>
            <a:ext cx="3108960" cy="1097280"/>
          </a:xfrm>
          <a:prstGeom prst="rect">
            <a:avLst/>
          </a:prstGeom>
          <a:solidFill>
            <a:srgbClr val="1F4A7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23697" y="3260309"/>
            <a:ext cx="1870842" cy="905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RL Framework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Components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Examples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3187263"/>
            <a:ext cx="3108960" cy="1097280"/>
          </a:xfrm>
          <a:prstGeom prst="rect">
            <a:avLst/>
          </a:prstGeom>
          <a:solidFill>
            <a:srgbClr val="1F4A7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28137" y="3260309"/>
            <a:ext cx="194441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Types of RL Systems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Q-Learning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DQN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PPO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AACD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A2C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4421703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8A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· Gymnasium · Stable-Baselines3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Reinforcement Learning?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through Interaction and Feedback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863477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RL is a type of Machine Learning where an agent learns to make decisions by interacting with an environment to maximise cumulative reward over time.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875573"/>
            <a:ext cx="402336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875573"/>
            <a:ext cx="64008" cy="713232"/>
          </a:xfrm>
          <a:prstGeom prst="rect">
            <a:avLst/>
          </a:prstGeom>
          <a:solidFill>
            <a:srgbClr val="7A95AF"/>
          </a:solidFill>
          <a:ln w="127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193958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Supervised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" y="219561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Labelled data → Predict 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680245"/>
            <a:ext cx="402336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680245"/>
            <a:ext cx="64008" cy="713232"/>
          </a:xfrm>
          <a:prstGeom prst="rect">
            <a:avLst/>
          </a:prstGeom>
          <a:solidFill>
            <a:srgbClr val="7A95AF"/>
          </a:solidFill>
          <a:ln w="127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" y="274425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Unsupervised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" y="300028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Unlabelled data → Find patterns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484917"/>
            <a:ext cx="4023360" cy="71323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484917"/>
            <a:ext cx="64008" cy="71323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" y="354892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Reinforcement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" y="380495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 signal → Learn behaviour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0" y="156898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RL is Applied Today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83147" y="1894123"/>
            <a:ext cx="4160520" cy="2289257"/>
          </a:xfrm>
          <a:prstGeom prst="rect">
            <a:avLst/>
          </a:prstGeom>
          <a:solidFill>
            <a:srgbClr val="E8F4FC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0" y="1920240"/>
            <a:ext cx="3977640" cy="1874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Robotics — teaching arms to grasp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🎮  Game playing — AlphaGo, Atari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🚗  Autonomous driving — lane 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📦  Warehouse robotics — logistics hubs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💊  Healthcare — personalised treatment plans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Smart grid — energy optimisation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Agent–Environment Interaction Loop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RL Feedback Cycle — The Heart of Every RL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194560" cy="1417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9C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Maker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2E9C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Executes Policy π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2194560" cy="141732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9224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9C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World /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2E9C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Transitions States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51760" y="1920240"/>
            <a:ext cx="3840480" cy="0"/>
          </a:xfrm>
          <a:prstGeom prst="line">
            <a:avLst/>
          </a:prstGeom>
          <a:noFill/>
          <a:ln w="38100">
            <a:solidFill>
              <a:srgbClr val="2E9CCA"/>
            </a:solidFill>
            <a:prstDash val="solid"/>
            <a:tailEnd type="triangle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0" y="1536192"/>
            <a:ext cx="1828800" cy="310896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0" y="153619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  aₜ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651760" y="2834640"/>
            <a:ext cx="3840480" cy="0"/>
          </a:xfrm>
          <a:prstGeom prst="line">
            <a:avLst/>
          </a:prstGeom>
          <a:noFill/>
          <a:ln w="38100">
            <a:solidFill>
              <a:srgbClr val="1A7A4A"/>
            </a:solidFill>
            <a:prstDash val="solid"/>
            <a:headEnd type="triangle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520440" y="2697480"/>
            <a:ext cx="2103120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20440" y="26974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  sₜ₊₁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651760" y="3154680"/>
            <a:ext cx="3840480" cy="0"/>
          </a:xfrm>
          <a:prstGeom prst="line">
            <a:avLst/>
          </a:prstGeom>
          <a:noFill/>
          <a:ln w="38100">
            <a:solidFill>
              <a:srgbClr val="D4500A"/>
            </a:solidFill>
            <a:prstDash val="solid"/>
            <a:headEnd type="triangle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520440" y="2999232"/>
            <a:ext cx="2103120" cy="310896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20440" y="29992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  rₜ₊₁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3848469"/>
            <a:ext cx="2798064" cy="71323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4048" y="3903333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Agent observes state sₜ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4048" y="4159365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Gets a snapshot of the current environment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18688" y="3848469"/>
            <a:ext cx="2798064" cy="71323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28416" y="3903333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Agent picks action aₜ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28416" y="4159365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Based on policy π — its strategy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63056" y="3848469"/>
            <a:ext cx="2798064" cy="71323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72784" y="3903333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Environment responds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72784" y="4159365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Returns new state sₜ₊₁ and reward rₜ₊₁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Components of Reinforcement Learning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Building Blocks of Every RL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2608" y="1170432"/>
            <a:ext cx="265176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2608" y="1170432"/>
            <a:ext cx="2651760" cy="38404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1225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Agent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" y="1627632"/>
            <a:ext cx="2450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decision-making entity that observes the environment, takes actions, and learns from feedback.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72968" y="1170432"/>
            <a:ext cx="265176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72968" y="1170432"/>
            <a:ext cx="2651760" cy="38404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4408" y="1225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🌍  Environment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82696" y="1627632"/>
            <a:ext cx="2450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external world the agent interacts with. Provides new states and reward signals after each action.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53328" y="1170432"/>
            <a:ext cx="265176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3328" y="1170432"/>
            <a:ext cx="2651760" cy="384048"/>
          </a:xfrm>
          <a:prstGeom prst="rect">
            <a:avLst/>
          </a:prstGeom>
          <a:solidFill>
            <a:srgbClr val="1A6A8A"/>
          </a:solidFill>
          <a:ln w="12700">
            <a:solidFill>
              <a:srgbClr val="1A6A8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44768" y="1225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📍  State  (s)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63056" y="1627632"/>
            <a:ext cx="2450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complete snapshot of the environment at a given timestep. Represents 'where the agent is'.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92608" y="2953512"/>
            <a:ext cx="265176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2608" y="2953512"/>
            <a:ext cx="2651760" cy="384048"/>
          </a:xfrm>
          <a:prstGeom prst="rect">
            <a:avLst/>
          </a:prstGeom>
          <a:solidFill>
            <a:srgbClr val="C4520A"/>
          </a:solidFill>
          <a:ln w="12700">
            <a:solidFill>
              <a:srgbClr val="C4520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4048" y="3008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Action  (a)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2336" y="3410712"/>
            <a:ext cx="2450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decision or choice made by the agent that modifies the environment state.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172968" y="2953512"/>
            <a:ext cx="265176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172968" y="2953512"/>
            <a:ext cx="26517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64408" y="3008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🏆  Reward  (r)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82696" y="3410712"/>
            <a:ext cx="2450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Scalar feedback signal — positive for desirable outcomes, negative for undesirable ones.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53328" y="2953512"/>
            <a:ext cx="2651760" cy="160020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53328" y="2953512"/>
            <a:ext cx="2651760" cy="384048"/>
          </a:xfrm>
          <a:prstGeom prst="rect">
            <a:avLst/>
          </a:prstGeom>
          <a:solidFill>
            <a:srgbClr val="7A2A9A"/>
          </a:solidFill>
          <a:ln w="12700">
            <a:solidFill>
              <a:srgbClr val="7A2A9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44768" y="3008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🗺️  Policy  (π)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63056" y="3410712"/>
            <a:ext cx="2450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Mapping from states to actions — the agent's complete strategy for behaviour.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Markov Decision Process (MDP)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Mathematical Foundation of Reinforcement Learning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MDP formally defines the RL problem as a 5-tuple: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97280" y="1508760"/>
            <a:ext cx="6949440" cy="6217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1508760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9C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MDP  =  ( S , A , P , R , γ 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475488" cy="420624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0120" y="23042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 Space —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80360" y="23042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possible situations the agent can be 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2798064"/>
            <a:ext cx="475488" cy="420624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279806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 Space —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80360" y="28346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actions available to the agent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475488" cy="420624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3328416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3364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Transition Probability —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880360" y="33649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P(s'|s,a) — probability of reaching state s' from s via action 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475488" cy="420624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385876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20" y="3895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 Function —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80360" y="38953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R(s,a) — immediate reward for taking action a in state 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4389120"/>
            <a:ext cx="475488" cy="420624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5760" y="4389120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γ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1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Discount Factor —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80360" y="44256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γ ∈ [0,1] — how much future rewards are valued vs immediate ones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Mapping RL Components to Real-World Scenarios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Applications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8595360" cy="32918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12070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🚦 Smart Traffic Control —  Highway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15361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17465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Traffic signal controller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48256" y="15361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48256" y="17465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 with vehicles &amp; pedestrians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12464" y="15361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12464" y="17465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Traffic density (Low/Med/High)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76672" y="15361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76672" y="17465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Change signal (Red/Green/Yellow)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15361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40880" y="174650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+Smooth flow  –Congestion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2450592"/>
            <a:ext cx="8595360" cy="1170432"/>
          </a:xfrm>
          <a:prstGeom prst="rect">
            <a:avLst/>
          </a:prstGeom>
          <a:solidFill>
            <a:srgbClr val="E8F4FC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2450592"/>
            <a:ext cx="8595360" cy="329184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4048" y="2487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📦 Warehouse Robot — Logistics Hub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4048" y="28163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4048" y="30266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Picking robot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048256" y="28163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048256" y="30266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Warehouse grid with shelves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712464" y="28163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712464" y="30266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Robot location + item request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76672" y="28163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76672" y="30266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 L/R/Up/Down or Pick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40880" y="28163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40880" y="30266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+Correct pick  –Wrong pick/delay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74320" y="3730752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3730752"/>
            <a:ext cx="8595360" cy="329184"/>
          </a:xfrm>
          <a:prstGeom prst="rect">
            <a:avLst/>
          </a:prstGeom>
          <a:solidFill>
            <a:srgbClr val="1A6A8A"/>
          </a:solidFill>
          <a:ln w="12700">
            <a:solidFill>
              <a:srgbClr val="1A6A8A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84048" y="37673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🐕 Service Dog Training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84048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84048" y="43068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dog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048256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048256" y="43068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ground with trainer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712464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712464" y="43068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Command given (Sit/Run)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376672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76672" y="43068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Dog's response (Sit/Run/Ignore)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040880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040880" y="430682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+Treat for correct response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Policy, Value Function &amp; Action-Value Function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Concepts That Drive Agent Decision-Making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2743200" cy="370332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2743200" cy="4754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🗺️  Policy  π(a|s)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1719072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agent's strategy — maps every state to an action or probability distribution over actions. The goal of RL is to find the optimal policy π* that maximises cumulative reward.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" y="3547872"/>
            <a:ext cx="2523744" cy="5669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" y="35478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π* = argmax_π  E[ Σ γᵗ rₜ ]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743200" cy="370332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2743200" cy="47548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9184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💰  Value Function  V(s)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10128" y="1719072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Expected long-term reward from state s while following policy π. Helps the agent prefer states that lead to better futures — not just immediate gains.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310128" y="3547872"/>
            <a:ext cx="2523744" cy="5669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10128" y="35478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V^π(s) = E_π[ Σ γᵗ rₜ | s₀=s ]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743200" cy="3703320"/>
          </a:xfrm>
          <a:prstGeom prst="rect">
            <a:avLst/>
          </a:prstGeom>
          <a:solidFill>
            <a:srgbClr val="F7FAFD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743200" cy="475488"/>
          </a:xfrm>
          <a:prstGeom prst="rect">
            <a:avLst/>
          </a:prstGeom>
          <a:solidFill>
            <a:srgbClr val="1A6A8A"/>
          </a:solidFill>
          <a:ln w="12700">
            <a:solidFill>
              <a:srgbClr val="1A6A8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1792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⚖️  Action-Value  Q(s,a)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36208" y="1719072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Expected return from state s, taking action a, then following π. Q-table or Q-network is the foundation of Q-Learning and DQN algorithms.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36208" y="3547872"/>
            <a:ext cx="2523744" cy="5669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36208" y="35478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Q(s,a) = r + γ · maxₐ' Q(s',a')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Taxonomy of Reinforcement Learning Systems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RL Algorithms Are Categorised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5303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Reinforcement Learning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0" cy="32004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20240" y="1947672"/>
            <a:ext cx="5303520" cy="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20240" y="1947672"/>
            <a:ext cx="0" cy="256032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23760" y="1947672"/>
            <a:ext cx="0" cy="256032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4160520" cy="4754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219456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Model-Based RL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670048"/>
            <a:ext cx="4160520" cy="2148840"/>
          </a:xfrm>
          <a:prstGeom prst="rect">
            <a:avLst/>
          </a:prstGeom>
          <a:solidFill>
            <a:srgbClr val="E8F4FC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Builds internal world model P(s'|s,a)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Plans ahead using simulated rollouts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Examples: Dyna-Q, AlphaZero, MuZero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Sample-efficient — learns faster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❌ Model errors can compound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17720" y="2194560"/>
            <a:ext cx="4160520" cy="47548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17720" y="219456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Model-Free RL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2670048"/>
            <a:ext cx="4160520" cy="2148840"/>
          </a:xfrm>
          <a:prstGeom prst="rect">
            <a:avLst/>
          </a:prstGeom>
          <a:solidFill>
            <a:srgbClr val="E8F4FC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2743200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internal model of environment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Learns directly from trial &amp; experience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Examples: Q-Learning, DQN, PPO, A2C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Simple implementation, widely used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❌ Needs more environment interactions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63440" y="4864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Value-Based: Q-Learning, DQN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12280" y="48646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Policy-Based: PPO, A2C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Q-Learning — Tabular Method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Bellman Update · Q-Table · ε-Greedy Exploration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Q-Learning is a model-free, off-policy, value-based algorithm. It maintains a Q-table Q[s,a] and updates it using the Bellman equation until values converge.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4023360" cy="7498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1579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C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Bellman Update Rule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2414016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Q[s,a] ← Q[s,a] + α [ r + γ maxₐ' Q[s',a'] − Q[s,a] 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α (alpha)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81328" y="3017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rate — how fast to update (0.1)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4023360" cy="420624"/>
          </a:xfrm>
          <a:prstGeom prst="rect">
            <a:avLst/>
          </a:prstGeom>
          <a:solidFill>
            <a:srgbClr val="E8F4FC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γ (gamma)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81328" y="34930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Discount factor — value of future rewards (0.99)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968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ε (epsilon)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81328" y="39684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Exploration rate — decays from 1.0 → 0.01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17720" y="1051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ε-Greedy Exploration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36108" y="1365718"/>
            <a:ext cx="2743200" cy="548640"/>
          </a:xfrm>
          <a:prstGeom prst="rect">
            <a:avLst/>
          </a:prstGeom>
          <a:solidFill>
            <a:srgbClr val="D47C0A"/>
          </a:solidFill>
          <a:ln w="12700">
            <a:solidFill>
              <a:srgbClr val="D47C0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49240" y="136571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&lt; ε 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532120" y="1914358"/>
            <a:ext cx="0" cy="45720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  <a:tailEnd type="triangle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371558"/>
            <a:ext cx="146304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0" y="237155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🎲 EXPLORE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66360" y="196922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92440" y="1923815"/>
            <a:ext cx="0" cy="50400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  <a:tailEnd type="triangle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15200" y="2371558"/>
            <a:ext cx="1463040" cy="50292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0" y="237155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🏆 EXPLOIT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argmax Q[s]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152243" y="19431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17720" y="3011638"/>
            <a:ext cx="4206240" cy="457200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81728" y="308479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ε decays each episode: ε ← max(ε_min, ε × ε_decay)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17720" y="34917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Q-Table  (States × Actions):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01463"/>
              </p:ext>
            </p:extLst>
          </p:nvPr>
        </p:nvGraphicFramePr>
        <p:xfrm>
          <a:off x="4617720" y="3784356"/>
          <a:ext cx="4206240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State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Left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Right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Up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Down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0.12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0.45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0.00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0.33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0.00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0.88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0.22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0.11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0.05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0.48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Q-Network (DQN)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Scaling Q-Learning with Neural Networks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1704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 Q-tables only work for small discrete state spaces. CartPole has 4 continuous variables → infinite states → no table possible!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613969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Replace Q-Table with a Neural Network  Q(s, a; θ)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016305"/>
            <a:ext cx="4160520" cy="384048"/>
          </a:xfrm>
          <a:prstGeom prst="rect">
            <a:avLst/>
          </a:prstGeom>
          <a:solidFill>
            <a:srgbClr val="7A95AF"/>
          </a:solidFill>
          <a:ln w="127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2016305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Tabular Q-Learning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400353"/>
            <a:ext cx="4160520" cy="1446436"/>
          </a:xfrm>
          <a:prstGeom prst="rect">
            <a:avLst/>
          </a:prstGeom>
          <a:solidFill>
            <a:srgbClr val="F7FAFD"/>
          </a:solidFill>
          <a:ln w="12700">
            <a:solidFill>
              <a:srgbClr val="7A95A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2473505"/>
            <a:ext cx="3931920" cy="1258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 stored in a 2D table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Works: small discrete envs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Environment: FrozenLake-v1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function approximation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Cannot scale to complex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0" y="2016305"/>
            <a:ext cx="4160520" cy="38404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2016305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Q-Network (DQN)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2400353"/>
            <a:ext cx="4160520" cy="1446436"/>
          </a:xfrm>
          <a:prstGeom prst="rect">
            <a:avLst/>
          </a:prstGeom>
          <a:solidFill>
            <a:srgbClr val="F7FAFD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2473505"/>
            <a:ext cx="3931920" cy="1258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 approximated by neural net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Works: continuous state spaces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Environment: CartPole, Atari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 Replay Buffer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Network for stability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2044" y="3876275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Key Innovations in DQN: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4132881"/>
            <a:ext cx="4160520" cy="644806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4132881"/>
            <a:ext cx="64008" cy="64800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488" y="4169457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 Replay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4370625"/>
            <a:ext cx="3794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Stores transitions (s,a,r,s') in a buffer. Random mini-batch sampling breaks temporal correlations and stabilises training.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09160" y="4132881"/>
            <a:ext cx="4160520" cy="644806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09160" y="4132881"/>
            <a:ext cx="64008" cy="64800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64608" y="4169457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Network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64608" y="4370625"/>
            <a:ext cx="3794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frozen copy of Q-network updated periodically. Prevents moving-target instability during backpropagation.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Proximal Policy Optimization (PPO)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 On-Policy Actor-Critic with Clipped Objective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PPO directly optimises the policy with a clipped surrogate objective — prevents large destabilising updates that can collapse training.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8503920" cy="5212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656851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C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L^CLIP(θ) = Eₜ [ min( rₜ(θ) Âₜ ,  clip(rₜ(θ), 1−ε, 1+ε) Âₜ ) ]     where  rₜ(θ) = πθ(a|s) / πθ_old(a|s)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21663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PPO Works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56410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60068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On-Policy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18488" y="260068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Collects rollouts then discards — no replay buffer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984730"/>
            <a:ext cx="411480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02130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Actor-Critic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18488" y="302130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Shared body; separate policy (actor) + value (critic) heads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40535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44193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Vectorised Envs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18488" y="344193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Runs 4+ parallel envs for efficient rollout collection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825978"/>
            <a:ext cx="411480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386255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Epochs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18488" y="386255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n_epochs=10 SGD passes on each rollout batch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424660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28317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 (Â)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18488" y="428317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GAE-λ estimate: how much better action was vs baseline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09160" y="221663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Hyperparameters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256410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0" y="26006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n_steps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70448" y="2618970"/>
            <a:ext cx="502920" cy="25603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70448" y="261897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00800" y="260068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Rollout steps per env before update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09160" y="2984730"/>
            <a:ext cx="411480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02130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batch_size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870448" y="3039594"/>
            <a:ext cx="502920" cy="25603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70448" y="303959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0" y="302130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Minibatch size for SGD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09160" y="340535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846320" y="344193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n_epochs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870448" y="3460218"/>
            <a:ext cx="502920" cy="25603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870448" y="346021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00800" y="344193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SGD passes per rollout batch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709160" y="3825978"/>
            <a:ext cx="411480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46320" y="386255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clip_range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70448" y="3880842"/>
            <a:ext cx="502920" cy="25603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870448" y="388084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400800" y="386255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Ratio clipping — key to stability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09160" y="424660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0" y="428317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gae_lambda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870448" y="4301466"/>
            <a:ext cx="502920" cy="25603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870448" y="430146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00800" y="428317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GAE smoothing — bias/variance trade-off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 Actor-Critic (A2C)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Synchronous On-Policy Actor-Critic Algorithm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A2C is a synchronous on-policy algorithm. It updates both actor (policy) and critic (value function) jointly using advantage estimates from short trajectory rollouts.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1645920" cy="566928"/>
          </a:xfrm>
          <a:prstGeom prst="rect">
            <a:avLst/>
          </a:prstGeom>
          <a:solidFill>
            <a:srgbClr val="4A6A8A"/>
          </a:solidFill>
          <a:ln w="12700">
            <a:solidFill>
              <a:srgbClr val="4A6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9202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 sₜ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31720" y="1783080"/>
            <a:ext cx="1645920" cy="8229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31720" y="1783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43400" y="1572768"/>
            <a:ext cx="1828800" cy="65836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43400" y="15727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 (π)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Head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43400" y="2395728"/>
            <a:ext cx="182880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43400" y="23957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 (V)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Head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37960" y="1572768"/>
            <a:ext cx="1920240" cy="65836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37960" y="15727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 aₜ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37960" y="2395728"/>
            <a:ext cx="192024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2395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Â = Rₜ − V(s)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965960" y="2203704"/>
            <a:ext cx="365760" cy="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77640" y="1901952"/>
            <a:ext cx="365760" cy="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977640" y="2724912"/>
            <a:ext cx="365760" cy="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72200" y="1901952"/>
            <a:ext cx="365760" cy="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72200" y="2724912"/>
            <a:ext cx="365760" cy="0"/>
          </a:xfrm>
          <a:prstGeom prst="line">
            <a:avLst/>
          </a:prstGeom>
          <a:noFill/>
          <a:ln w="25400">
            <a:solidFill>
              <a:srgbClr val="7A95AF"/>
            </a:solidFill>
            <a:prstDash val="solid"/>
            <a:tailEnd type="triangle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32461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Loss Functions Updated Together: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3584448"/>
            <a:ext cx="4160520" cy="749808"/>
          </a:xfrm>
          <a:prstGeom prst="rect">
            <a:avLst/>
          </a:prstGeom>
          <a:solidFill>
            <a:srgbClr val="E8F4FC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36301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Actor Loss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38770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L_actor = −log π(a|s) · Âₜ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4096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Encourages actions with positive advantage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09160" y="3584448"/>
            <a:ext cx="4160520" cy="749808"/>
          </a:xfrm>
          <a:prstGeom prst="rect">
            <a:avLst/>
          </a:prstGeom>
          <a:solidFill>
            <a:srgbClr val="E8F4FC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46320" y="36301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 Loss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46320" y="38770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L_critic = (Rₜ − V(sₜ))²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4096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error in value function estimates (MSE)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5B6AE-EA09-CFFD-BFCE-758119988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63DB6A-EFAC-5009-F4E7-1C6BA84F194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D9324A-A9CF-4BAC-5AC7-AF7DEC287385}"/>
              </a:ext>
            </a:extLst>
          </p:cNvPr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DC7796-7731-0156-56D2-0970DE29BA8E}"/>
              </a:ext>
            </a:extLst>
          </p:cNvPr>
          <p:cNvSpPr/>
          <p:nvPr/>
        </p:nvSpPr>
        <p:spPr>
          <a:xfrm>
            <a:off x="411480" y="73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 Actor-Critic (A2C)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229691-A7F7-F696-BE51-C150B9B78C54}"/>
              </a:ext>
            </a:extLst>
          </p:cNvPr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Synchronous On-Policy Actor-Critic Algorithm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A8CE0C7-3A61-B2E4-A339-88D3E4773A4B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5037463-C31C-0B89-F586-80B46995B3BD}"/>
              </a:ext>
            </a:extLst>
          </p:cNvPr>
          <p:cNvSpPr/>
          <p:nvPr/>
        </p:nvSpPr>
        <p:spPr>
          <a:xfrm>
            <a:off x="320040" y="1392571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A2C vs PPO — Quick Comparison: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8" name="Table 0">
            <a:extLst>
              <a:ext uri="{FF2B5EF4-FFF2-40B4-BE49-F238E27FC236}">
                <a16:creationId xmlns:a16="http://schemas.microsoft.com/office/drawing/2014/main" id="{E225E290-0E70-EDAC-DF93-3D76A636C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62946"/>
              </p:ext>
            </p:extLst>
          </p:nvPr>
        </p:nvGraphicFramePr>
        <p:xfrm>
          <a:off x="320040" y="1990666"/>
          <a:ext cx="8503920" cy="148594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A2C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baseline="0" dirty="0">
                          <a:solidFill>
                            <a:srgbClr val="1F5C99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Update rule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Single-step gradient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Clipped ratio objective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baseline="0" dirty="0">
                          <a:solidFill>
                            <a:srgbClr val="1F5C99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Data reuse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No — discard after update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Yes — n_epochs passes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baseline="0" dirty="0">
                          <a:solidFill>
                            <a:srgbClr val="1F5C99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Calibri" pitchFamily="34" charset="-120"/>
                        </a:rPr>
                        <a:t>Higher (due to clipping)</a:t>
                      </a:r>
                      <a:endParaRPr lang="en-US" sz="1200" baseline="0" dirty="0">
                        <a:latin typeface="Times New Roman" panose="020206030504050203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66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Comparison — Q-Learning, DQN, PPO, A2C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to Use Which Algorithm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46731"/>
              </p:ext>
            </p:extLst>
          </p:nvPr>
        </p:nvGraphicFramePr>
        <p:xfrm>
          <a:off x="274320" y="1048410"/>
          <a:ext cx="8595360" cy="2834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Action Space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State Space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Strength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Typical Use Case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Q-Learning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Off-policy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Value-Based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Discrete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Small Discrete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Simple Q-table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interpretable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Teaching, toy envs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(FrozenLake)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DQN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Off-policy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Value-Based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Discrete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Replay buffer +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Target network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Atari, CartPole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Robotics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PPO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On-policy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Policy-Based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Discrete/Cont.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Stable clipped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Robotics, continuous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control, NLP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A2C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On-policy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Policy-Based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Discrete/Cont.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Simple actor-critic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Quick baselines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Curriculum RL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20040" y="388315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Quick Decision Guide: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4203194"/>
            <a:ext cx="2029968" cy="62179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" y="423977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8096" y="424891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discrete env?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450494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Q-Learning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496312" y="4203194"/>
            <a:ext cx="2029968" cy="62179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42032" y="423977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🎮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5"/>
          <p:cNvSpPr/>
          <p:nvPr/>
        </p:nvSpPr>
        <p:spPr>
          <a:xfrm>
            <a:off x="2944368" y="424891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Large discrete (Atari)?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633472" y="450494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DQN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72584" y="4203194"/>
            <a:ext cx="2029968" cy="62179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18304" y="423977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120640" y="424891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Continuous actions?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09744" y="450494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PPO or A2C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848856" y="4203194"/>
            <a:ext cx="2029968" cy="621792"/>
          </a:xfrm>
          <a:prstGeom prst="rect">
            <a:avLst/>
          </a:prstGeom>
          <a:solidFill>
            <a:srgbClr val="E8F4FC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894576" y="423977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🔬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296912" y="424891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stability &amp; data use?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986016" y="450494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PPO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1688</Words>
  <Application>Microsoft Office PowerPoint</Application>
  <PresentationFormat>On-screen Show (16:9)</PresentationFormat>
  <Paragraphs>338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– 2-Day Training</dc:title>
  <dc:subject>PptxGenJS Presentation</dc:subject>
  <dc:creator>PptxGenJS</dc:creator>
  <cp:lastModifiedBy>EduTech</cp:lastModifiedBy>
  <cp:revision>5</cp:revision>
  <dcterms:created xsi:type="dcterms:W3CDTF">2026-05-09T08:59:12Z</dcterms:created>
  <dcterms:modified xsi:type="dcterms:W3CDTF">2026-05-09T13:34:21Z</dcterms:modified>
</cp:coreProperties>
</file>